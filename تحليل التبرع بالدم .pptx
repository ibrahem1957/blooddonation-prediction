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Tajawal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SYERWo9fhWwoXl4Oz2a6LI7Xq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31488A-3B6B-4E5F-8210-BDAA0034F3BA}">
  <a:tblStyle styleId="{D631488A-3B6B-4E5F-8210-BDAA0034F3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jawal-regular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Tajawal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27.png"/><Relationship Id="rId9" Type="http://schemas.openxmlformats.org/officeDocument/2006/relationships/image" Target="../media/image25.png"/><Relationship Id="rId5" Type="http://schemas.openxmlformats.org/officeDocument/2006/relationships/image" Target="../media/image50.png"/><Relationship Id="rId6" Type="http://schemas.openxmlformats.org/officeDocument/2006/relationships/image" Target="../media/image32.png"/><Relationship Id="rId7" Type="http://schemas.openxmlformats.org/officeDocument/2006/relationships/image" Target="../media/image48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47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91259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2500550" y="2960340"/>
            <a:ext cx="719089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تحليل بيانات التبرع بالدم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615564" y="3693765"/>
            <a:ext cx="69608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التنبؤ بأهلية المتبرعين باستخدام تقنيات تعلم الآلة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990850" y="4579590"/>
            <a:ext cx="6210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دراسة شاملة لـ 10,000 سجل للمتبرعين لتحسين استراتيجيات التبرع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2882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5448895"/>
            <a:ext cx="50482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أهداف المشروع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381750" y="1761529"/>
            <a:ext cx="50484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تواجه بنوك الدم تحدياً مستمراً: </a:t>
            </a: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الموازنة بين العرض والطلب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مع ضمان سلامة المتبرعين. يهدف مشروعي هذا إلى: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381750" y="3144291"/>
            <a:ext cx="476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تحليل البيانات التاريخية لتحديد الاتجاهات والأنماط.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381750" y="3652837"/>
            <a:ext cx="476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تحديد المؤشرات الصحية الرئيسية التي تحدد أهلية التبرع.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381750" y="4527053"/>
            <a:ext cx="476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بناء نموذج تنبؤي لفحص المتبرعين المحتملين مسبقاً، مما يوفر الوقت والموارد.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648950" y="5696545"/>
            <a:ext cx="4857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3238"/>
                </a:solidFill>
                <a:latin typeface="Tajawal"/>
                <a:ea typeface="Tajawal"/>
                <a:cs typeface="Tajawal"/>
                <a:sym typeface="Tajawal"/>
              </a:rPr>
              <a:t>الهدف: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9975" y="319191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9975" y="37004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9975" y="457467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6">
            <a:alphaModFix/>
          </a:blip>
          <a:srcRect b="0" l="0" r="7158" t="9074"/>
          <a:stretch/>
        </p:blipFill>
        <p:spPr>
          <a:xfrm>
            <a:off x="228600" y="1940825"/>
            <a:ext cx="5166150" cy="36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5" y="2281237"/>
            <a:ext cx="242887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81237"/>
            <a:ext cx="242887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4005262"/>
            <a:ext cx="242887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نظرة عامة على البيانات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09587" y="206811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أهم الخصائص التي قمت بتحليلها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9296400" y="2576512"/>
            <a:ext cx="18383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10k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720262" y="3309937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سجل متبرع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677025" y="2576512"/>
            <a:ext cx="18383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819900" y="3309937"/>
            <a:ext cx="1552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خاصية (FEATURE)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296400" y="4300537"/>
            <a:ext cx="18383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677400" y="5033962"/>
            <a:ext cx="107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سنة البيانات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0" y="44910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6677025" y="5062537"/>
            <a:ext cx="1838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مصدر البيانات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62000" y="2620565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البيانات الديموغرافية: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العمر، الجنس، الموقع (المدينة/الولاية).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62000" y="3494782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المقاييس الصحية: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الهيموغلوبين (g/dL)، الوزن (kg)، الحالات الطبية.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762000" y="4368998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التاريخ: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إجمالي التبرعات، تاريخ آخر تبرع.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762000" y="4877544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المتغير المستهدف: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أهلية_التبرع (Eligible) (نعم/لا).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0225" y="266819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0225" y="354240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0225" y="441662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0225" y="492516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77450" y="5812623"/>
            <a:ext cx="3112900" cy="4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التركيبة السكانية: فصائل الدم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381750" y="2296715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فهم توزيع فصائل الدم أمر بالغ الأهمية لإدارة المخزون.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381750" y="2948136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O+ و B+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هما الفصائل الأكثر شيوعاً في مجموعة البيانات، مما يتماشى مع التركيبة السكانية.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6490758" y="3746361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AB-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هي الفصيلة الأكثر ندرة، مما يبرز الحاجة إلى حملات مستهدفة لهذه الفئة.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6381750" y="4696569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تساعد معرفة هذا التوزيع بنوك الدم على توقع النقص في الفصائل النادرة.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9975" y="299576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9975" y="386997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9975" y="474419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5000" y="5692625"/>
            <a:ext cx="3185000" cy="42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34416"/>
            <a:ext cx="6381750" cy="3835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08151"/>
            <a:ext cx="5048250" cy="19389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التركيبة السكانية: التوزيع حسب الجنس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09587" y="188148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رؤى حول الفجوة بين الجنسين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762000" y="2386310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تكشف البيانات عن تباين في معدلات التبرع بين الجنسين.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62000" y="5437584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77777"/>
                </a:solidFill>
                <a:latin typeface="Tajawal"/>
                <a:ea typeface="Tajawal"/>
                <a:cs typeface="Tajawal"/>
                <a:sym typeface="Tajawal"/>
              </a:rPr>
              <a:t>*يجب أن تركز الاستراتيجيات المستقبلية على معالجة الحواجز الصحية المحددة للفئات الأقل تمثيلاً.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1000125" y="3546276"/>
            <a:ext cx="4514850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ملاحظة: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على الرغم من مشاركة كلا الجنسين، إلا أن العوامل الفسيولوجية (مثل مستويات الهيموغلوبين) تؤثر غالباً على معدلات الأهلية بشكل مختلف بين الرجال والنساء.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4">
            <a:alphaModFix/>
          </a:blip>
          <a:srcRect b="-18020" l="0" r="0" t="0"/>
          <a:stretch/>
        </p:blipFill>
        <p:spPr>
          <a:xfrm>
            <a:off x="7752175" y="5927975"/>
            <a:ext cx="3485050" cy="5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2875" y="1376362"/>
            <a:ext cx="4702896" cy="43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المقاييس الصحية: عامل الهيموغلوبين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6381750" y="2256829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تُعد مستويات الهيموغلوبين (Hb) المرشح البيولوجي الأساسي لأهلية التبرع.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6381750" y="2988171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الرجال: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يحافظون عموماً على متوسطات أعلى (13.8–17.2 g/dL).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6381750" y="3862387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النساء: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تظهر متوسطات أقل قليلاً (12.1–15.1 g/dL)، مما قد يؤدي أحياناً إلى عدم استيفاء حد التبرع.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381750" y="4736603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هذا المقياس يرتبط بشكل أقوى مع حالة "مؤهل للتبرع" في نموذجي.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9975" y="303579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9975" y="39100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9975" y="478422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1450" y="6037700"/>
            <a:ext cx="3638550" cy="7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121" y="1464649"/>
            <a:ext cx="602375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7509510" y="603349"/>
            <a:ext cx="392049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التحليل الجغرافي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696200" y="1298674"/>
            <a:ext cx="37338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7696200" y="1612999"/>
            <a:ext cx="37338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يختلف نشاط التبرع بشكل كبير حسب المنطقة.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8" name="Google Shape;1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625" y="0"/>
            <a:ext cx="38385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 txBox="1"/>
          <p:nvPr/>
        </p:nvSpPr>
        <p:spPr>
          <a:xfrm>
            <a:off x="7696200" y="2534840"/>
            <a:ext cx="344805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أهم المدن: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تُظهر كولكاتا وجايبور مشاركة عالية من المتبرعين.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7696200" y="3409057"/>
            <a:ext cx="344805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المراكز الإقليمية: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تتفوق المناطق الحضرية الكبرى باستمرار على المناطق الريفية في حجم التبرعات.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7696200" y="4648944"/>
            <a:ext cx="3448050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الاستراتيجية: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يجب أن تستهدف حملات التبرع المتنقلة المناطق ذات الكثافة العالية التي تم تحديدها في تحليل "أهم 5 مدن".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9975" y="25824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9975" y="34566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9975" y="469656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4466" y="6366933"/>
            <a:ext cx="4569883" cy="395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857187"/>
            <a:ext cx="6566301" cy="522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اتجاهات التبرع عبر الزمن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509587" y="2004417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النمو السنوي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762000" y="2509242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يشير تحليلي للسلاسل الزمنية (2020–2025) إلى اتجاه إيجابي في التبرعات الطوعية.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62000" y="3240583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زيادة مستمرة: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حملات التوعية فعالة وتؤتي ثمارها.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762000" y="3749129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ديناميكيات الجنس: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تظل مشاركة الذكور مستقرة، بينما تظهر مشاركة الإناث إمكانات للنمو.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762000" y="4623345"/>
            <a:ext cx="47625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الموسمية: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تُظهر بعض الأشهر انخفاضاً، بسبب الطقس أو العطلات، مما يشير إلى أوقات مثالية لتكثيف الحملات.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0225" y="328820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0225" y="379675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0225" y="467097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976" y="5720357"/>
            <a:ext cx="4065125" cy="489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7450" y="1687505"/>
            <a:ext cx="6134550" cy="3736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86113" y="6210288"/>
            <a:ext cx="890587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343025"/>
            <a:ext cx="10668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 txBox="1"/>
          <p:nvPr/>
        </p:nvSpPr>
        <p:spPr>
          <a:xfrm>
            <a:off x="228600" y="47625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تحليل العلاقات (Correlation Matrix)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62000" y="1123950"/>
            <a:ext cx="10668000" cy="28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6234112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 txBox="1"/>
          <p:nvPr/>
        </p:nvSpPr>
        <p:spPr>
          <a:xfrm>
            <a:off x="509587" y="1564332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فهم الارتباطات بين المتغيرات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762000" y="2069157"/>
            <a:ext cx="5048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قمت باستخدام مصفوفة الارتباط لفهم العلاقات الخفية بين البيانات، وأظهرت النتائج: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762000" y="2990998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ارتباط قوي: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بين "الهيموغلوبين" و "الأهلية للتبرع"، مما يؤكد أن صحة الدم هي العامل الحاسم.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762000" y="3836640"/>
            <a:ext cx="47625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فائدة النموذج:</a:t>
            </a:r>
            <a:r>
              <a:rPr lang="en-US" sz="1800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عدم وجود ارتباط خطي قوي جداً بين المتغيرات المستقلة (Multicollinearity) يعزز من دقة واستقرار النموذج.</a:t>
            </a:r>
            <a:endParaRPr>
              <a:solidFill>
                <a:schemeClr val="dk1"/>
              </a:solidFill>
            </a:endParaRPr>
          </a:p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546E7A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762000" y="4682281"/>
            <a:ext cx="47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0" y="0"/>
            <a:ext cx="12192000" cy="142800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0" y="6762750"/>
            <a:ext cx="12192000" cy="9540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0225" y="303862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0225" y="38842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4050" y="1600575"/>
            <a:ext cx="5892301" cy="46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9950" y="6254250"/>
            <a:ext cx="540521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4225" y="1347225"/>
            <a:ext cx="6032126" cy="477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4549" y="3007072"/>
            <a:ext cx="3365450" cy="1948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349" y="3007072"/>
            <a:ext cx="3365450" cy="1948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07072"/>
            <a:ext cx="3365599" cy="194875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 txBox="1"/>
          <p:nvPr/>
        </p:nvSpPr>
        <p:spPr>
          <a:xfrm>
            <a:off x="228600" y="1250751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استراتيجية تعلم الآلة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762000" y="1946076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762000" y="2260401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للتنبؤ بأهلية المتبرع، قمت باختبار خمس خوارزميات تصنيف مختلفة. تم تقسيم البيانات بنسبة 80/20 للتدريب والاختبار.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762000" y="5241577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*قمت أيضاً بتقييم خوارزميات الجيران الأقرب (KNN) وآلات المتجهات الداعمة (SVM).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0" name="Google Shape;26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0512" y="330234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 txBox="1"/>
          <p:nvPr/>
        </p:nvSpPr>
        <p:spPr>
          <a:xfrm>
            <a:off x="8290452" y="3826222"/>
            <a:ext cx="2913645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63238"/>
                </a:solidFill>
                <a:latin typeface="Tajawal"/>
                <a:ea typeface="Tajawal"/>
                <a:cs typeface="Tajawal"/>
                <a:sym typeface="Tajawal"/>
              </a:rPr>
              <a:t>الغابة العشوائية (Random Forest)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8359824" y="4416772"/>
            <a:ext cx="2774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طريقة تعلم جماعي لزيادة الدقة والموثوقية.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3" name="Google Shape;26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312" y="330234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 txBox="1"/>
          <p:nvPr/>
        </p:nvSpPr>
        <p:spPr>
          <a:xfrm>
            <a:off x="4639251" y="3826222"/>
            <a:ext cx="291364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63238"/>
                </a:solidFill>
                <a:latin typeface="Tajawal"/>
                <a:ea typeface="Tajawal"/>
                <a:cs typeface="Tajawal"/>
                <a:sym typeface="Tajawal"/>
              </a:rPr>
              <a:t>شجرة القرار (Decision Tree)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4708624" y="4169122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منطق قائم على القواعد، بسيط وقابل للتفسير.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6" name="Google Shape;26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01924" y="330234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 txBox="1"/>
          <p:nvPr/>
        </p:nvSpPr>
        <p:spPr>
          <a:xfrm>
            <a:off x="987898" y="3826222"/>
            <a:ext cx="2913801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63238"/>
                </a:solidFill>
                <a:latin typeface="Tajawal"/>
                <a:ea typeface="Tajawal"/>
                <a:cs typeface="Tajawal"/>
                <a:sym typeface="Tajawal"/>
              </a:rPr>
              <a:t>الانحدار اللوجستي (Logistic Regression)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1057275" y="4416772"/>
            <a:ext cx="277504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نموذج تصنيف خطي أساسي.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75475" y="5829237"/>
            <a:ext cx="6186906" cy="711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417540"/>
            <a:ext cx="5048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217640"/>
            <a:ext cx="50482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 txBox="1"/>
          <p:nvPr/>
        </p:nvSpPr>
        <p:spPr>
          <a:xfrm>
            <a:off x="2286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المودل الاعلى: Random Forest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6381750" y="2076598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بعد اختبارات دقيقة، تفوق مصنف </a:t>
            </a: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الغابة العشوائية (Random Forest)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كأفضل نموذج.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6381750" y="4693890"/>
            <a:ext cx="504825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لماذا Random Forest؟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لأنها تتعامل مع العلاقات غير الخطية بين العمر والوزن والهيموغلوبين بشكل أفضل من النماذج الخطية.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6381750" y="3093690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3238"/>
                </a:solidFill>
                <a:latin typeface="Tajawal"/>
                <a:ea typeface="Tajawal"/>
                <a:cs typeface="Tajawal"/>
                <a:sym typeface="Tajawal"/>
              </a:rPr>
              <a:t>RandomForest</a:t>
            </a:r>
            <a:r>
              <a:rPr b="0" i="0" lang="en-US" sz="1200" u="none" cap="none" strike="noStrike">
                <a:solidFill>
                  <a:srgbClr val="263238"/>
                </a:solidFill>
                <a:latin typeface="Tajawal"/>
                <a:ea typeface="Tajawal"/>
                <a:cs typeface="Tajawal"/>
                <a:sym typeface="Tajawal"/>
              </a:rPr>
              <a:t> </a:t>
            </a:r>
            <a:r>
              <a:rPr b="1" i="0" lang="en-US" sz="12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83.3%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6381750" y="3893790"/>
            <a:ext cx="5048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3238"/>
                </a:solidFill>
                <a:latin typeface="Tajawal"/>
                <a:ea typeface="Tajawal"/>
                <a:cs typeface="Tajawal"/>
                <a:sym typeface="Tajawal"/>
              </a:rPr>
              <a:t>الانحدار اللوجستي 77.8%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224861" y="3417540"/>
            <a:ext cx="4205138" cy="190500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7502574" y="4217640"/>
            <a:ext cx="3927425" cy="19050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6075000"/>
            <a:ext cx="540725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9599" y="1011424"/>
            <a:ext cx="5407249" cy="484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"/>
          <p:cNvSpPr txBox="1"/>
          <p:nvPr/>
        </p:nvSpPr>
        <p:spPr>
          <a:xfrm>
            <a:off x="228600" y="899219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تجربة حية للتنبؤ (Live Demo)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762000" y="1594544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762000" y="1908869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قمت باختبار النموذج على 5 متبرعين محتملين جدد. إليكم التنبؤات: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8" name="Google Shape;298;p12"/>
          <p:cNvGraphicFramePr/>
          <p:nvPr/>
        </p:nvGraphicFramePr>
        <p:xfrm>
          <a:off x="762000" y="2465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{D631488A-3B6B-4E5F-8210-BDAA0034F3BA}</a:tableStyleId>
              </a:tblPr>
              <a:tblGrid>
                <a:gridCol w="2293150"/>
                <a:gridCol w="1872250"/>
                <a:gridCol w="1654525"/>
                <a:gridCol w="2148025"/>
                <a:gridCol w="270005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العمر / الجنس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فصيلة الدم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الوزن (kg)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الهيموغلوبين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التنبؤ (Prediction)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5A64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31 / ذكر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O+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72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15.0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E7D32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مؤهل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26 / أنثى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A+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55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11.2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62828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غير مؤهل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45 / ذكر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B+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80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14.3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E7D32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مؤهل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22 / ذكر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O-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68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16.1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E7D32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مؤهل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34 / أنثى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AB+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63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12.3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62828"/>
                          </a:solidFill>
                          <a:latin typeface="Tajawal"/>
                          <a:ea typeface="Tajawal"/>
                          <a:cs typeface="Tajawal"/>
                          <a:sym typeface="Tajawal"/>
                        </a:rPr>
                        <a:t>غير مؤهل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12"/>
          <p:cNvSpPr txBox="1"/>
          <p:nvPr/>
        </p:nvSpPr>
        <p:spPr>
          <a:xfrm>
            <a:off x="762000" y="5684490"/>
            <a:ext cx="1066800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ملاحظة:</a:t>
            </a:r>
            <a:r>
              <a:rPr b="0" i="0" lang="en-US" sz="135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كان انخفاض الهيموغلوبين (11.2 و 12.3) هو العامل الحاسم لعدم الأهلية.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0" name="Google Shape;3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5733977"/>
            <a:ext cx="172033" cy="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/>
          <p:nvPr/>
        </p:nvSpPr>
        <p:spPr>
          <a:xfrm>
            <a:off x="9136856" y="3469927"/>
            <a:ext cx="229314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7264598" y="3469927"/>
            <a:ext cx="187225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610076" y="3469927"/>
            <a:ext cx="16545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3462039" y="3469927"/>
            <a:ext cx="214803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62000" y="3469927"/>
            <a:ext cx="2700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136856" y="3974752"/>
            <a:ext cx="229314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7264598" y="3974752"/>
            <a:ext cx="187225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610076" y="3974752"/>
            <a:ext cx="16545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462039" y="3974752"/>
            <a:ext cx="214803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762000" y="3974752"/>
            <a:ext cx="2700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9136856" y="4479577"/>
            <a:ext cx="229314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7264598" y="4479577"/>
            <a:ext cx="187225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610076" y="4479577"/>
            <a:ext cx="16545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462039" y="4479577"/>
            <a:ext cx="214803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62000" y="4479577"/>
            <a:ext cx="2700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9136856" y="4984402"/>
            <a:ext cx="229314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7264598" y="4984402"/>
            <a:ext cx="187225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610076" y="4984402"/>
            <a:ext cx="165452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462039" y="4984402"/>
            <a:ext cx="214803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62000" y="4984402"/>
            <a:ext cx="2700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025" y="5958775"/>
            <a:ext cx="4507832" cy="7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الخاتمة والخطوات القادمة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762000" y="1266825"/>
            <a:ext cx="10668000" cy="2857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495300" y="5781675"/>
            <a:ext cx="11201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32F2F"/>
                </a:solidFill>
                <a:latin typeface="Tajawal"/>
                <a:ea typeface="Tajawal"/>
                <a:cs typeface="Tajawal"/>
                <a:sym typeface="Tajawal"/>
              </a:rPr>
              <a:t>شكراً لكم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6129337" y="2109936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الملخص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509587" y="1927175"/>
            <a:ext cx="53006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55A64"/>
                </a:solidFill>
                <a:latin typeface="Tajawal"/>
                <a:ea typeface="Tajawal"/>
                <a:cs typeface="Tajawal"/>
                <a:sym typeface="Tajawal"/>
              </a:rPr>
              <a:t>التوصيات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6381750" y="2614761"/>
            <a:ext cx="47625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الدقة: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حققت دقة تنبؤية بنسبة 83.3%.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6381750" y="3123307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العامل الرئيسي: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مستوى الهيموغلوبين هو أقوى مؤشر للأهلية.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6381750" y="3997523"/>
            <a:ext cx="47625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التركيبة السكانية: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الرجال حالياً أكثر عرضة لأن يكونوا مؤهلين بسبب المستويات البيولوجية للهيموغلوبين.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762000" y="2432000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التغذية المستهدفة: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التثقيف حول الأنظمة الغذائية الغنية بالحديد للمتبرعات من النساء.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762000" y="3306216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تخطيط المخزون: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التركيز على مناطق مثل كولكاتا وجايبور لفصائل الدم النادرة.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762000" y="4180433"/>
            <a:ext cx="4762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الخطوات التالية:</a:t>
            </a:r>
            <a:r>
              <a:rPr b="0" i="0" lang="en-US" sz="1800" u="none" cap="none" strike="noStrike">
                <a:solidFill>
                  <a:srgbClr val="546E7A"/>
                </a:solidFill>
                <a:latin typeface="Tajawal"/>
                <a:ea typeface="Tajawal"/>
                <a:cs typeface="Tajawal"/>
                <a:sym typeface="Tajawal"/>
              </a:rPr>
              <a:t> نشر النموذج في تطبيق جوال لتمكين المتبرعين من الفحص الذاتي.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0" y="0"/>
            <a:ext cx="12192000" cy="142875"/>
          </a:xfrm>
          <a:prstGeom prst="roundRect">
            <a:avLst>
              <a:gd fmla="val 16667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0" y="6762750"/>
            <a:ext cx="12192000" cy="95250"/>
          </a:xfrm>
          <a:prstGeom prst="roundRect">
            <a:avLst>
              <a:gd fmla="val 16667" name="adj"/>
            </a:avLst>
          </a:prstGeom>
          <a:solidFill>
            <a:srgbClr val="455A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1" name="Google Shape;3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9975" y="266238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9975" y="317093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9975" y="404514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225" y="24796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225" y="335384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225" y="422805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498" y="5199488"/>
            <a:ext cx="6667500" cy="656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265658"/>
            <a:ext cx="1236132" cy="1236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